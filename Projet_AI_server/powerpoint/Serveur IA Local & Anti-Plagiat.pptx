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62" r:id="rId3"/>
    <p:sldId id="257" r:id="rId4"/>
    <p:sldId id="259" r:id="rId5"/>
    <p:sldId id="258" r:id="rId6"/>
    <p:sldId id="261" r:id="rId7"/>
    <p:sldId id="263" r:id="rId8"/>
    <p:sldId id="265" r:id="rId9"/>
    <p:sldId id="264" r:id="rId10"/>
    <p:sldId id="266" r:id="rId11"/>
    <p:sldId id="267" r:id="rId12"/>
    <p:sldId id="268" r:id="rId13"/>
    <p:sldId id="270" r:id="rId14"/>
    <p:sldId id="269" r:id="rId15"/>
    <p:sldId id="271" r:id="rId16"/>
    <p:sldId id="272" r:id="rId17"/>
    <p:sldId id="273" r:id="rId18"/>
    <p:sldId id="274" r:id="rId19"/>
  </p:sldIdLst>
  <p:sldSz cx="12192000" cy="6858000"/>
  <p:notesSz cx="6858000" cy="9144000"/>
  <p:embeddedFontLs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Poppins" pitchFamily="2" charset="77"/>
      <p:regular r:id="rId25"/>
      <p:bold r:id="rId26"/>
      <p:italic r:id="rId27"/>
      <p:boldItalic r:id="rId28"/>
    </p:embeddedFont>
    <p:embeddedFont>
      <p:font typeface="Poppins SemiBold" panose="00000700000000000000" pitchFamily="2" charset="77"/>
      <p:regular r:id="rId29"/>
      <p:bold r:id="rId30"/>
      <p:italic r:id="rId31"/>
      <p:boldItalic r:id="rId32"/>
    </p:embeddedFont>
    <p:embeddedFont>
      <p:font typeface="Urbanist" panose="020B0A04040200000203" pitchFamily="34" charset="77"/>
      <p:regular r:id="rId33"/>
      <p:bold r:id="rId34"/>
      <p:italic r:id="rId35"/>
      <p:boldItalic r:id="rId36"/>
    </p:embeddedFont>
    <p:embeddedFont>
      <p:font typeface="Urbanist Medium" panose="020B0A04040200000203" pitchFamily="34" charset="77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540CD2-5346-4B81-B81A-D8B6903B8D0F}">
  <a:tblStyle styleId="{7E540CD2-5346-4B81-B81A-D8B6903B8D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7"/>
    <p:restoredTop sz="94681"/>
  </p:normalViewPr>
  <p:slideViewPr>
    <p:cSldViewPr snapToGrid="0">
      <p:cViewPr>
        <p:scale>
          <a:sx n="107" d="100"/>
          <a:sy n="107" d="100"/>
        </p:scale>
        <p:origin x="1424" y="8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d98ab011b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3ed98ab011b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d98ab011b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ed98ab011b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d98ab011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3ed98ab011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d98ab011b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ed98ab011b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d98ab011b_2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3ed98ab011b_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d98ab011b_2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3ed98ab011b_2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73773"/>
            <a:ext cx="205740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14650" y="4473773"/>
            <a:ext cx="190500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1898451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Projet </a:t>
            </a:r>
            <a:r>
              <a:rPr lang="en-US" sz="5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Serveur IA Local</a:t>
            </a:r>
            <a:r>
              <a:rPr lang="en-US" sz="5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&amp; Détection de Plagiat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597473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Infrastructure souveraine, LLM &amp; Pipeline de détection hybride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15200" y="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4635698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09925" y="4635698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94644"/>
            <a:ext cx="523875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394644"/>
            <a:ext cx="523875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785169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962025" y="3661469"/>
            <a:ext cx="468058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Assistant IA Locale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962025" y="4232969"/>
            <a:ext cx="44577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Déployer une interface de chat puissante accessible aux utilisateurs autorisés pour l'aide à la rédaction et la programmation.</a:t>
            </a:r>
            <a:endParaRPr/>
          </a:p>
        </p:txBody>
      </p:sp>
      <p:pic>
        <p:nvPicPr>
          <p:cNvPr id="165" name="Google Shape;16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78516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6772275" y="3661469"/>
            <a:ext cx="468058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Détection de Plagiat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772275" y="4232969"/>
            <a:ext cx="44577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Concevoir un pipeline capable d'analyser des rapports pour identifier les similitudes textuelles, sémantiques et générées par IA.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809625" y="950862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Double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Objectif</a:t>
            </a: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du Projet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/>
          <p:nvPr/>
        </p:nvSpPr>
        <p:spPr>
          <a:xfrm>
            <a:off x="5524500" y="2924175"/>
            <a:ext cx="1143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3015614" y="3219450"/>
            <a:ext cx="616077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01. Enjeux et Contexte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686050"/>
            <a:ext cx="514350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686050"/>
            <a:ext cx="5143500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1104900" y="3028950"/>
            <a:ext cx="468058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Dérives du Cloud public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93458" y="3561639"/>
            <a:ext cx="4680584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L'utilisation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services tiers (ChatGPT, Gemini) pour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l'analyse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académique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pose des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risques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fuite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données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d'élèves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viole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le RGPD et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supprime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contrôle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souveraineté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28" name="Google Shape;128;p16"/>
          <p:cNvSpPr txBox="1"/>
          <p:nvPr/>
        </p:nvSpPr>
        <p:spPr>
          <a:xfrm>
            <a:off x="6629400" y="3028950"/>
            <a:ext cx="468058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Exigence "Local D'abord"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629400" y="3561639"/>
            <a:ext cx="4680584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Déploiement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d'une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architecture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souveraine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où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100 % des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traitements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et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calculs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d'analyse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sont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exécutés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au sein de 	 l’ infrastructure, sans communication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extérieure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 </a:t>
            </a:r>
            <a:r>
              <a:rPr lang="en-US" sz="2850" b="0" i="0" u="none" strike="noStrike" cap="none" dirty="0" err="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Problématique</a:t>
            </a:r>
            <a:r>
              <a:rPr lang="en-US" sz="285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du </a:t>
            </a:r>
            <a:r>
              <a:rPr lang="en-US" sz="2850" b="0" i="0" u="none" strike="noStrike" cap="none" dirty="0" err="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Plagiat</a:t>
            </a:r>
            <a:endParaRPr dirty="0"/>
          </a:p>
        </p:txBody>
      </p:sp>
      <p:sp>
        <p:nvSpPr>
          <p:cNvPr id="131" name="Google Shape;131;p16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762000" y="3824287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700660" y="4081462"/>
            <a:ext cx="2576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</a:t>
            </a:r>
            <a:r>
              <a:rPr lang="en-US" sz="1650" dirty="0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L’ </a:t>
            </a:r>
            <a:r>
              <a:rPr lang="en-US" sz="1650" dirty="0" err="1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initiailisation</a:t>
            </a:r>
            <a:endParaRPr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762000" y="4510087"/>
            <a:ext cx="2453700" cy="1558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Des LLM on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été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tester sur machine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perso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pour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comprendre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leur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besoin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ressource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et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leur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fonctionnement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3438725" y="2338387"/>
            <a:ext cx="2576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</a:t>
            </a:r>
            <a:r>
              <a:rPr lang="en-US" sz="1650" dirty="0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L’ installation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3500064" y="2767012"/>
            <a:ext cx="2453700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Installation de l’ OS et modification de la configuration hardware du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serveur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6176940" y="4081462"/>
            <a:ext cx="2576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</a:t>
            </a:r>
            <a:r>
              <a:rPr lang="en-US" sz="1650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 R&amp;D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238279" y="4510087"/>
            <a:ext cx="24537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C’ est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quand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le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serveur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et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l’ IA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fonctionnait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le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dévelopement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du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programme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a commence.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8915009" y="2294000"/>
            <a:ext cx="2576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</a:t>
            </a:r>
            <a:r>
              <a:rPr lang="en-US" sz="1650" dirty="0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 </a:t>
            </a:r>
            <a:r>
              <a:rPr lang="en-US" sz="1650" dirty="0" err="1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bilan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8976300" y="2624300"/>
            <a:ext cx="2453700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C’ est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seulement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ce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moment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toutes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les notes on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été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rassemblé</a:t>
            </a:r>
            <a:r>
              <a:rPr lang="en-US" sz="135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gradFill>
            <a:gsLst>
              <a:gs pos="0">
                <a:schemeClr val="bg2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L’ approche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1893540" y="37480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4631680" y="37480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7369819" y="37480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10107959" y="37480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8033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571500" y="2680394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Pourquoi le "Local First" ?</a:t>
            </a:r>
            <a:endParaRPr/>
          </a:p>
        </p:txBody>
      </p:sp>
      <p:pic>
        <p:nvPicPr>
          <p:cNvPr id="146" name="Google Shape;14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18985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1000125" y="3194744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Protection des données 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Conformité stricte au RGPD (données étudiants).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1000125" y="4061519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Souveraineté 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Indépendance totale vis-à-vis des API payantes (OpenAI, Anthropic).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1000125" y="4928294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Contrôle technique 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Maîtrise des modèles et de l'infrastructure de calcul.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809625" y="950862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L'IUT face aux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enjeux de l'IA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9474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6151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928294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32719"/>
            <a:ext cx="3492400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232719"/>
            <a:ext cx="3492549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232719"/>
            <a:ext cx="3492400" cy="37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894241" y="3509069"/>
            <a:ext cx="2846918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Ollama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962025" y="4080569"/>
            <a:ext cx="27113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Moteur d'inférence ultra-léger pour LLM en local. Gestion simplifiée des poids.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4672388" y="3509069"/>
            <a:ext cx="2847074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OpenWebUI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4740175" y="4080569"/>
            <a:ext cx="2711499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Interface utilisateur riche (style ChatGPT) auto-hébergée et connectée à l'API Ollama.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8450691" y="3509069"/>
            <a:ext cx="2846918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Python / Flask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8518475" y="4080569"/>
            <a:ext cx="27113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Cœur logique du pipeline anti-plagiat et service API personnalisé.</a:t>
            </a:r>
            <a:endParaRPr/>
          </a:p>
        </p:txBody>
      </p:sp>
      <p:pic>
        <p:nvPicPr>
          <p:cNvPr id="184" name="Google Shape;18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9575" y="266134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726" y="266134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64600" y="2661344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809625" y="950862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 Stack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Retenue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4312"/>
            <a:ext cx="495300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17887"/>
            <a:ext cx="49530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437137"/>
            <a:ext cx="49530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09625" y="950862"/>
            <a:ext cx="49506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Choix &amp;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Écarts</a:t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800100" y="2284362"/>
            <a:ext cx="45339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LMStudio 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Écarté. Incompatible avec les processeurs Xeon de l'IUT (absence de jeu d'instructions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AVX2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800100" y="4217937"/>
            <a:ext cx="45339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LiteLLM 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Écarté. Liaison instable avec le serveur Ollama lors des tests d'intégration.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800100" y="5837187"/>
            <a:ext cx="453390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HuggingFace</a:t>
            </a:r>
            <a:r>
              <a:rPr lang="en-US" sz="165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Cloud :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Écarté.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Problématiques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clés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invalides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et non-respect du RGPD.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7838" y="2031342"/>
            <a:ext cx="5610498" cy="271047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</p:pic>
      <p:sp>
        <p:nvSpPr>
          <p:cNvPr id="195" name="Google Shape;195;p21"/>
          <p:cNvSpPr txBox="1"/>
          <p:nvPr/>
        </p:nvSpPr>
        <p:spPr>
          <a:xfrm>
            <a:off x="762000" y="2071687"/>
            <a:ext cx="54006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Maîtrise d'Infrastructure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762000" y="2519362"/>
            <a:ext cx="51435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Raccordé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directement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au réseau physique local 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172.17.0.0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notre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écosystème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élimine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les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instabilités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wifi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la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faculté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97" name="Google Shape;197;p21"/>
          <p:cNvSpPr txBox="1"/>
          <p:nvPr/>
        </p:nvSpPr>
        <p:spPr>
          <a:xfrm>
            <a:off x="1047750" y="31861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1143000" y="3186112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Serveur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: PC custom (2x Xeon v3, RTX 3060 Ti, 32 Go RAM) sous Linux Mint.</a:t>
            </a:r>
            <a:endParaRPr dirty="0"/>
          </a:p>
        </p:txBody>
      </p:sp>
      <p:sp>
        <p:nvSpPr>
          <p:cNvPr id="199" name="Google Shape;199;p21"/>
          <p:cNvSpPr txBox="1"/>
          <p:nvPr/>
        </p:nvSpPr>
        <p:spPr>
          <a:xfrm>
            <a:off x="1047750" y="37004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1143000" y="3700462"/>
            <a:ext cx="47625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Clients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: Le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serveur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Lenovo et MacBook Neo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connectés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au segment local pour les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requêtes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01" name="Google Shape;201;p21"/>
          <p:cNvSpPr txBox="1"/>
          <p:nvPr/>
        </p:nvSpPr>
        <p:spPr>
          <a:xfrm>
            <a:off x="1047750" y="42148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1143000" y="4214812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Autonomie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: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Fonctionnement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résilient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sans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accès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internet.</a:t>
            </a:r>
            <a:endParaRPr dirty="0"/>
          </a:p>
        </p:txBody>
      </p:sp>
      <p:sp>
        <p:nvSpPr>
          <p:cNvPr id="204" name="Google Shape;204;p21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Architecture Réseau 172.17.0.0</a:t>
            </a:r>
            <a:endParaRPr dirty="0"/>
          </a:p>
        </p:txBody>
      </p:sp>
      <p:sp>
        <p:nvSpPr>
          <p:cNvPr id="205" name="Google Shape;205;p21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CEB3FCE-9364-3C08-DCED-151288DBA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498" y="1596213"/>
            <a:ext cx="4887433" cy="36655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80332"/>
            <a:ext cx="3838575" cy="3726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189857"/>
            <a:ext cx="11430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6381750" y="2680394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L'assistant Intelligent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6810375" y="3194744"/>
            <a:ext cx="4810125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Modèle</a:t>
            </a:r>
            <a:r>
              <a:rPr lang="en-US" sz="165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: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Llama3.1:8b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choisi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pour son excellent rapport performance/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poids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29" name="Google Shape;229;p23"/>
          <p:cNvSpPr txBox="1"/>
          <p:nvPr/>
        </p:nvSpPr>
        <p:spPr>
          <a:xfrm>
            <a:off x="6810375" y="4061519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Mode Headless :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Ollama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tourne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service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d'arrière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-plan sans interface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graphique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inutile.</a:t>
            </a:r>
            <a:endParaRPr dirty="0"/>
          </a:p>
        </p:txBody>
      </p:sp>
      <p:sp>
        <p:nvSpPr>
          <p:cNvPr id="230" name="Google Shape;230;p23"/>
          <p:cNvSpPr txBox="1"/>
          <p:nvPr/>
        </p:nvSpPr>
        <p:spPr>
          <a:xfrm>
            <a:off x="6810375" y="4928294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Bonus Home Assistant 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Intégration via HAOS pour le contrôle domotique de l'infrastructure de test.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809625" y="950862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L'IA Locale : </a:t>
            </a:r>
            <a:r>
              <a:rPr lang="en-US" sz="3600" b="1" i="0" u="none" strike="noStrike" cap="none" dirty="0" err="1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Ollama</a:t>
            </a:r>
            <a:r>
              <a:rPr lang="en-US" sz="3600" b="1" i="0" u="none" strike="noStrike" cap="none" dirty="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 +Llama</a:t>
            </a:r>
            <a:endParaRPr dirty="0"/>
          </a:p>
        </p:txBody>
      </p:sp>
      <p:sp>
        <p:nvSpPr>
          <p:cNvPr id="232" name="Google Shape;232;p23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19474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06151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92829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B3DA34A-4D52-8EA6-765A-B94E82F8FB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5" y="2189857"/>
            <a:ext cx="3810000" cy="37195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70894"/>
            <a:ext cx="349240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870894"/>
            <a:ext cx="3492549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870894"/>
            <a:ext cx="34924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571500" y="2270819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Une approche multi-signaux pour une détection robuste et exhaustive.</a:t>
            </a:r>
            <a:endParaRPr/>
          </a:p>
        </p:txBody>
      </p:sp>
      <p:pic>
        <p:nvPicPr>
          <p:cNvPr id="245" name="Google Shape;245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93875" y="3261419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894241" y="3994844"/>
            <a:ext cx="2846918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Lexical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962025" y="4566344"/>
            <a:ext cx="27113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Analyse par N-grams pour repérer les copier-coller bruts.</a:t>
            </a:r>
            <a:endParaRPr/>
          </a:p>
        </p:txBody>
      </p:sp>
      <p:pic>
        <p:nvPicPr>
          <p:cNvPr id="248" name="Google Shape;248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72026" y="3261419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4672388" y="3994844"/>
            <a:ext cx="2847074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Sémantique</a:t>
            </a:r>
            <a:endParaRPr dirty="0"/>
          </a:p>
        </p:txBody>
      </p:sp>
      <p:sp>
        <p:nvSpPr>
          <p:cNvPr id="250" name="Google Shape;250;p24"/>
          <p:cNvSpPr txBox="1"/>
          <p:nvPr/>
        </p:nvSpPr>
        <p:spPr>
          <a:xfrm>
            <a:off x="4740175" y="4566344"/>
            <a:ext cx="2711499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Utilisation d'Embeddings pour détecter les paraphrases complexes.</a:t>
            </a:r>
            <a:endParaRPr/>
          </a:p>
        </p:txBody>
      </p:sp>
      <p:pic>
        <p:nvPicPr>
          <p:cNvPr id="251" name="Google Shape;251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31275" y="3261419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8450691" y="3994844"/>
            <a:ext cx="2846918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Images / OCR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8518475" y="4566344"/>
            <a:ext cx="27113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Détection de textes cachés ou patterns visuels suspects.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809625" y="950862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Le Pipeline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Anti-Plagiat</a:t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/>
          <p:nvPr/>
        </p:nvSpPr>
        <p:spPr>
          <a:xfrm>
            <a:off x="571500" y="2704207"/>
            <a:ext cx="11049000" cy="2952750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2" name="Google Shape;262;p25"/>
          <p:cNvGraphicFramePr/>
          <p:nvPr>
            <p:extLst>
              <p:ext uri="{D42A27DB-BD31-4B8C-83A1-F6EECF244321}">
                <p14:modId xmlns:p14="http://schemas.microsoft.com/office/powerpoint/2010/main" val="609573558"/>
              </p:ext>
            </p:extLst>
          </p:nvPr>
        </p:nvGraphicFramePr>
        <p:xfrm>
          <a:off x="571500" y="2704207"/>
          <a:ext cx="11048975" cy="2952750"/>
        </p:xfrm>
        <a:graphic>
          <a:graphicData uri="http://schemas.openxmlformats.org/drawingml/2006/table">
            <a:tbl>
              <a:tblPr firstRow="1" bandRow="1">
                <a:noFill/>
                <a:tableStyleId>{7E540CD2-5346-4B81-B81A-D8B6903B8D0F}</a:tableStyleId>
              </a:tblPr>
              <a:tblGrid>
                <a:gridCol w="206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3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Signal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Technologie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Rôle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Verdict</a:t>
                      </a:r>
                      <a:r>
                        <a:rPr lang="en-US" sz="1200" b="1" i="0" u="none" strike="noStrike" cap="none" dirty="0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IA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LLM (llama3.1:8b)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Analyse</a:t>
                      </a: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la "</a:t>
                      </a:r>
                      <a:r>
                        <a:rPr lang="en-US" sz="1200" b="1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perplexité</a:t>
                      </a: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" du </a:t>
                      </a:r>
                      <a:r>
                        <a:rPr lang="en-US" sz="1200" b="1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texte</a:t>
                      </a: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(styles machines).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Embeddings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Sentence-Transformers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Compare la structure </a:t>
                      </a:r>
                      <a:r>
                        <a:rPr lang="en-US" sz="1200" b="1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logique</a:t>
                      </a: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des arguments.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Terminal Live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Flask / </a:t>
                      </a:r>
                      <a:r>
                        <a:rPr lang="en-US" sz="1200" b="1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ServerSentEvent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Suivi</a:t>
                      </a: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1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</a:t>
                      </a: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temps </a:t>
                      </a:r>
                      <a:r>
                        <a:rPr lang="en-US" sz="1200" b="1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réel</a:t>
                      </a: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de </a:t>
                      </a:r>
                      <a:r>
                        <a:rPr lang="en-US" sz="1200" b="1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l'avancement</a:t>
                      </a: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du scan.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Rapport PDF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weasyprint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Génération</a:t>
                      </a: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1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automatique</a:t>
                      </a: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de la </a:t>
                      </a:r>
                      <a:r>
                        <a:rPr lang="en-US" sz="1200" b="1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synthèse</a:t>
                      </a: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finale.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3" name="Google Shape;263;p25"/>
          <p:cNvSpPr/>
          <p:nvPr/>
        </p:nvSpPr>
        <p:spPr>
          <a:xfrm>
            <a:off x="571500" y="3356669"/>
            <a:ext cx="206320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2634704" y="3356669"/>
            <a:ext cx="31547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89414" y="3356669"/>
            <a:ext cx="58310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71500" y="3928169"/>
            <a:ext cx="206320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2634704" y="3928169"/>
            <a:ext cx="31547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89414" y="3928169"/>
            <a:ext cx="58310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71500" y="4499669"/>
            <a:ext cx="206320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2634704" y="4499669"/>
            <a:ext cx="31547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5789414" y="4499669"/>
            <a:ext cx="58310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71500" y="5071169"/>
            <a:ext cx="206320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2634704" y="5071169"/>
            <a:ext cx="31547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5789414" y="5071169"/>
            <a:ext cx="58310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71500" y="5642669"/>
            <a:ext cx="206320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2634704" y="5642669"/>
            <a:ext cx="31547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5789414" y="5642669"/>
            <a:ext cx="58310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 txBox="1"/>
          <p:nvPr/>
        </p:nvSpPr>
        <p:spPr>
          <a:xfrm>
            <a:off x="809625" y="950862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Indicateurs de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Verdict</a:t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0" y="2075380"/>
            <a:ext cx="6210942" cy="407231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7"/>
          <p:cNvSpPr txBox="1"/>
          <p:nvPr/>
        </p:nvSpPr>
        <p:spPr>
          <a:xfrm>
            <a:off x="571500" y="2837557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Expérience Utilisateur</a:t>
            </a:r>
            <a:endParaRPr/>
          </a:p>
        </p:txBody>
      </p:sp>
      <p:sp>
        <p:nvSpPr>
          <p:cNvPr id="299" name="Google Shape;299;p27"/>
          <p:cNvSpPr txBox="1"/>
          <p:nvPr/>
        </p:nvSpPr>
        <p:spPr>
          <a:xfrm>
            <a:off x="1000125" y="3351907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Upload glisser-déposer de rapports multiples.</a:t>
            </a:r>
            <a:endParaRPr/>
          </a:p>
        </p:txBody>
      </p:sp>
      <p:sp>
        <p:nvSpPr>
          <p:cNvPr id="300" name="Google Shape;300;p27"/>
          <p:cNvSpPr txBox="1"/>
          <p:nvPr/>
        </p:nvSpPr>
        <p:spPr>
          <a:xfrm>
            <a:off x="1000125" y="3904357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Terminal Live 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L'utilisateur voit le pipeline "réfléchir" et traiter chaque signal.</a:t>
            </a:r>
            <a:endParaRPr/>
          </a:p>
        </p:txBody>
      </p:sp>
      <p:sp>
        <p:nvSpPr>
          <p:cNvPr id="301" name="Google Shape;301;p27"/>
          <p:cNvSpPr txBox="1"/>
          <p:nvPr/>
        </p:nvSpPr>
        <p:spPr>
          <a:xfrm>
            <a:off x="1000125" y="4771132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Exportation 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Archivage immédiat des résultats en PDF pour archivage jury.</a:t>
            </a:r>
            <a:endParaRPr/>
          </a:p>
        </p:txBody>
      </p:sp>
      <p:sp>
        <p:nvSpPr>
          <p:cNvPr id="302" name="Google Shape;302;p27"/>
          <p:cNvSpPr txBox="1"/>
          <p:nvPr/>
        </p:nvSpPr>
        <p:spPr>
          <a:xfrm>
            <a:off x="809625" y="950862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L'Interface de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Gestion</a:t>
            </a:r>
            <a:endParaRPr/>
          </a:p>
        </p:txBody>
      </p:sp>
      <p:sp>
        <p:nvSpPr>
          <p:cNvPr id="303" name="Google Shape;303;p27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5190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0435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7113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5A79768C-9C0E-FC8C-28AB-8596D92BCA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1259" y="2123771"/>
            <a:ext cx="6068923" cy="39993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6"/>
          <p:cNvSpPr txBox="1"/>
          <p:nvPr/>
        </p:nvSpPr>
        <p:spPr>
          <a:xfrm>
            <a:off x="714375" y="571500"/>
            <a:ext cx="540067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 Pivot </a:t>
            </a:r>
            <a:r>
              <a:rPr lang="en-US" sz="2850" b="0" i="0" u="none" strike="noStrike" cap="none" dirty="0" err="1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Stratégique</a:t>
            </a:r>
            <a:r>
              <a:rPr lang="en-US" sz="2850" b="0" i="0" u="none" strike="noStrike" cap="none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Local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 txBox="1"/>
          <p:nvPr/>
        </p:nvSpPr>
        <p:spPr>
          <a:xfrm>
            <a:off x="571500" y="1400175"/>
            <a:ext cx="555069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Souveraineté</a:t>
            </a:r>
            <a:r>
              <a:rPr lang="en-US" sz="1950" b="0" i="0" u="none" strike="noStrike" cap="none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950" b="0" i="0" u="none" strike="noStrike" cap="none" dirty="0" err="1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Sanctuarisée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89" name="Google Shape;289;p26"/>
          <p:cNvSpPr txBox="1"/>
          <p:nvPr/>
        </p:nvSpPr>
        <p:spPr>
          <a:xfrm>
            <a:off x="571500" y="1885950"/>
            <a:ext cx="5286375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Pour </a:t>
            </a:r>
            <a:r>
              <a:rPr lang="en-US" sz="135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valider</a:t>
            </a:r>
            <a:r>
              <a:rPr lang="en-US" sz="135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l'architecture</a:t>
            </a:r>
            <a:r>
              <a:rPr lang="en-US" sz="135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logicielle</a:t>
            </a:r>
            <a:r>
              <a:rPr lang="en-US" sz="135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hybride</a:t>
            </a:r>
            <a:r>
              <a:rPr lang="en-US" sz="135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, nous </a:t>
            </a:r>
            <a:r>
              <a:rPr lang="en-US" sz="135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Ayoub et moi </a:t>
            </a:r>
            <a:r>
              <a:rPr lang="en-US" sz="1350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avons</a:t>
            </a:r>
            <a:r>
              <a:rPr lang="en-US" sz="135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testé</a:t>
            </a:r>
            <a:r>
              <a:rPr lang="en-US" sz="135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l'API</a:t>
            </a:r>
            <a:r>
              <a:rPr lang="en-US" sz="135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externe Kimi K2.6 de </a:t>
            </a:r>
            <a:r>
              <a:rPr lang="en-US" sz="135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HuggingFace</a:t>
            </a:r>
            <a:r>
              <a:rPr lang="en-US" sz="135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via le script </a:t>
            </a:r>
            <a:r>
              <a:rPr lang="en-US" sz="135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test_kimi_api.py</a:t>
            </a:r>
            <a:r>
              <a:rPr lang="en-US" sz="135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90" name="Google Shape;290;p26"/>
          <p:cNvSpPr txBox="1"/>
          <p:nvPr/>
        </p:nvSpPr>
        <p:spPr>
          <a:xfrm>
            <a:off x="571499" y="2820821"/>
            <a:ext cx="528637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Une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fois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les tests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concluants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, nous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avons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fais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le choix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d'éteindre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ce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flux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extérieur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pour la production. La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vérification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externe a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été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rebasculée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local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instanciant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le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modèle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performant </a:t>
            </a:r>
            <a:r>
              <a:rPr lang="en-US" sz="1350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Llama 3.1 8B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sur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Ollama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CC4B3CC-DFF6-AB7C-7CF7-C3E537BB7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585" y="571500"/>
            <a:ext cx="5041900" cy="558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85207"/>
            <a:ext cx="523875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8"/>
          <p:cNvSpPr txBox="1"/>
          <p:nvPr/>
        </p:nvSpPr>
        <p:spPr>
          <a:xfrm>
            <a:off x="6381750" y="2589907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Actions à l'écran</a:t>
            </a:r>
            <a:endParaRPr/>
          </a:p>
        </p:txBody>
      </p:sp>
      <p:sp>
        <p:nvSpPr>
          <p:cNvPr id="314" name="Google Shape;314;p28"/>
          <p:cNvSpPr txBox="1"/>
          <p:nvPr/>
        </p:nvSpPr>
        <p:spPr>
          <a:xfrm>
            <a:off x="6381750" y="3161407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1.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Dépôt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 deux fichiers PDF dans l'interface Flask.</a:t>
            </a:r>
            <a:endParaRPr/>
          </a:p>
        </p:txBody>
      </p:sp>
      <p:sp>
        <p:nvSpPr>
          <p:cNvPr id="315" name="Google Shape;315;p28"/>
          <p:cNvSpPr txBox="1"/>
          <p:nvPr/>
        </p:nvSpPr>
        <p:spPr>
          <a:xfrm>
            <a:off x="6381750" y="3685282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2.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Défilement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du terminal live montrant les 4 étapes de calcul.</a:t>
            </a:r>
            <a:endParaRPr/>
          </a:p>
        </p:txBody>
      </p:sp>
      <p:sp>
        <p:nvSpPr>
          <p:cNvPr id="316" name="Google Shape;316;p28"/>
          <p:cNvSpPr txBox="1"/>
          <p:nvPr/>
        </p:nvSpPr>
        <p:spPr>
          <a:xfrm>
            <a:off x="6381750" y="4523482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3.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Score Final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affiché avec code couleur (Rouge/Orange/Vert).</a:t>
            </a:r>
            <a:endParaRPr/>
          </a:p>
        </p:txBody>
      </p:sp>
      <p:sp>
        <p:nvSpPr>
          <p:cNvPr id="317" name="Google Shape;317;p28"/>
          <p:cNvSpPr txBox="1"/>
          <p:nvPr/>
        </p:nvSpPr>
        <p:spPr>
          <a:xfrm>
            <a:off x="6381750" y="5361682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4.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Téléchargement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automatique du rapport PDF détaillé.</a:t>
            </a:r>
            <a:endParaRPr/>
          </a:p>
        </p:txBody>
      </p:sp>
      <p:sp>
        <p:nvSpPr>
          <p:cNvPr id="318" name="Google Shape;318;p28"/>
          <p:cNvSpPr txBox="1"/>
          <p:nvPr/>
        </p:nvSpPr>
        <p:spPr>
          <a:xfrm>
            <a:off x="809625" y="950862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Démonstration du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Workflow</a:t>
            </a:r>
            <a:endParaRPr/>
          </a:p>
        </p:txBody>
      </p:sp>
      <p:sp>
        <p:nvSpPr>
          <p:cNvPr id="319" name="Google Shape;319;p28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9"/>
          <p:cNvSpPr txBox="1"/>
          <p:nvPr/>
        </p:nvSpPr>
        <p:spPr>
          <a:xfrm>
            <a:off x="6381750" y="2680394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Points de friction</a:t>
            </a:r>
            <a:endParaRPr/>
          </a:p>
        </p:txBody>
      </p:sp>
      <p:sp>
        <p:nvSpPr>
          <p:cNvPr id="326" name="Google Shape;326;p29"/>
          <p:cNvSpPr txBox="1"/>
          <p:nvPr/>
        </p:nvSpPr>
        <p:spPr>
          <a:xfrm>
            <a:off x="571500" y="3470969"/>
            <a:ext cx="52387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8Go</a:t>
            </a:r>
            <a:endParaRPr/>
          </a:p>
        </p:txBody>
      </p:sp>
      <p:sp>
        <p:nvSpPr>
          <p:cNvPr id="327" name="Google Shape;327;p29"/>
          <p:cNvSpPr txBox="1"/>
          <p:nvPr/>
        </p:nvSpPr>
        <p:spPr>
          <a:xfrm>
            <a:off x="571500" y="4423469"/>
            <a:ext cx="5238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LIMITE VRAM</a:t>
            </a:r>
            <a:endParaRPr/>
          </a:p>
        </p:txBody>
      </p:sp>
      <p:sp>
        <p:nvSpPr>
          <p:cNvPr id="328" name="Google Shape;328;p29"/>
          <p:cNvSpPr txBox="1"/>
          <p:nvPr/>
        </p:nvSpPr>
        <p:spPr>
          <a:xfrm>
            <a:off x="6810375" y="3194744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Matériel 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8 Go de VRAM imposent des modèles compressés (quantifiés).</a:t>
            </a:r>
            <a:endParaRPr/>
          </a:p>
        </p:txBody>
      </p:sp>
      <p:sp>
        <p:nvSpPr>
          <p:cNvPr id="329" name="Google Shape;329;p29"/>
          <p:cNvSpPr txBox="1"/>
          <p:nvPr/>
        </p:nvSpPr>
        <p:spPr>
          <a:xfrm>
            <a:off x="6810375" y="4061519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Vision 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LLaVA désactivé temporairement par manque de ressources vidéo.</a:t>
            </a:r>
            <a:endParaRPr/>
          </a:p>
        </p:txBody>
      </p:sp>
      <p:sp>
        <p:nvSpPr>
          <p:cNvPr id="330" name="Google Shape;330;p29"/>
          <p:cNvSpPr txBox="1"/>
          <p:nvPr/>
        </p:nvSpPr>
        <p:spPr>
          <a:xfrm>
            <a:off x="6810375" y="4928294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Drivers 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Nécessité de réinstaller régulièrement les drivers NVIDIA après mises à jour système majeures.</a:t>
            </a:r>
            <a:endParaRPr/>
          </a:p>
        </p:txBody>
      </p:sp>
      <p:sp>
        <p:nvSpPr>
          <p:cNvPr id="331" name="Google Shape;331;p29"/>
          <p:cNvSpPr txBox="1"/>
          <p:nvPr/>
        </p:nvSpPr>
        <p:spPr>
          <a:xfrm>
            <a:off x="809625" y="950862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Bilan &amp;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Limites Assumées</a:t>
            </a:r>
            <a:endParaRPr/>
          </a:p>
        </p:txBody>
      </p:sp>
      <p:sp>
        <p:nvSpPr>
          <p:cNvPr id="332" name="Google Shape;332;p29"/>
          <p:cNvSpPr/>
          <p:nvPr/>
        </p:nvSpPr>
        <p:spPr>
          <a:xfrm>
            <a:off x="571500" y="950862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19474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06151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928294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8750" y="3294757"/>
            <a:ext cx="2857500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7250" y="3294757"/>
            <a:ext cx="2857500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05750" y="3294757"/>
            <a:ext cx="2857500" cy="2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0"/>
          <p:cNvSpPr txBox="1"/>
          <p:nvPr/>
        </p:nvSpPr>
        <p:spPr>
          <a:xfrm>
            <a:off x="295275" y="951607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Conclusion &amp;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Ouverture</a:t>
            </a:r>
            <a:endParaRPr/>
          </a:p>
        </p:txBody>
      </p:sp>
      <p:sp>
        <p:nvSpPr>
          <p:cNvPr id="345" name="Google Shape;345;p30"/>
          <p:cNvSpPr txBox="1"/>
          <p:nvPr/>
        </p:nvSpPr>
        <p:spPr>
          <a:xfrm>
            <a:off x="571500" y="2151757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Un serveur fonctionnel, autonome et protecteur de la vie privée à l'IUT.</a:t>
            </a:r>
            <a:endParaRPr/>
          </a:p>
        </p:txBody>
      </p:sp>
      <p:pic>
        <p:nvPicPr>
          <p:cNvPr id="346" name="Google Shape;346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81300" y="369480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0"/>
          <p:cNvSpPr txBox="1"/>
          <p:nvPr/>
        </p:nvSpPr>
        <p:spPr>
          <a:xfrm>
            <a:off x="1767364" y="4171057"/>
            <a:ext cx="218027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Prod</a:t>
            </a:r>
            <a:endParaRPr dirty="0"/>
          </a:p>
        </p:txBody>
      </p:sp>
      <p:sp>
        <p:nvSpPr>
          <p:cNvPr id="348" name="Google Shape;348;p30"/>
          <p:cNvSpPr txBox="1"/>
          <p:nvPr/>
        </p:nvSpPr>
        <p:spPr>
          <a:xfrm>
            <a:off x="1674257" y="4609460"/>
            <a:ext cx="2518886" cy="15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J’ ai </a:t>
            </a:r>
            <a:r>
              <a:rPr lang="en-US" sz="165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pu</a:t>
            </a:r>
            <a:r>
              <a:rPr lang="en-US" sz="165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créer</a:t>
            </a:r>
            <a:r>
              <a:rPr lang="en-US" sz="165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un </a:t>
            </a:r>
            <a:r>
              <a:rPr lang="en-US" sz="165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serveur</a:t>
            </a:r>
            <a:r>
              <a:rPr lang="en-US" sz="165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d’ IA local avec un </a:t>
            </a:r>
            <a:r>
              <a:rPr lang="en-US" sz="165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programme</a:t>
            </a:r>
            <a:r>
              <a:rPr lang="en-US" sz="165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 detection de </a:t>
            </a:r>
            <a:r>
              <a:rPr lang="en-US" sz="165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plagiat</a:t>
            </a:r>
            <a:r>
              <a:rPr lang="en-US" sz="165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fonctionel</a:t>
            </a:r>
            <a:endParaRPr lang="en-US" dirty="0"/>
          </a:p>
        </p:txBody>
      </p:sp>
      <p:pic>
        <p:nvPicPr>
          <p:cNvPr id="349" name="Google Shape;349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19800" y="369480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0"/>
          <p:cNvSpPr txBox="1"/>
          <p:nvPr/>
        </p:nvSpPr>
        <p:spPr>
          <a:xfrm>
            <a:off x="5005863" y="4171057"/>
            <a:ext cx="218027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Calibrage</a:t>
            </a:r>
            <a:endParaRPr/>
          </a:p>
        </p:txBody>
      </p:sp>
      <p:sp>
        <p:nvSpPr>
          <p:cNvPr id="351" name="Google Shape;351;p30"/>
          <p:cNvSpPr txBox="1"/>
          <p:nvPr/>
        </p:nvSpPr>
        <p:spPr>
          <a:xfrm>
            <a:off x="5057775" y="4742557"/>
            <a:ext cx="2076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Affinage des seuils de détection sémantique.</a:t>
            </a:r>
            <a:endParaRPr/>
          </a:p>
        </p:txBody>
      </p:sp>
      <p:pic>
        <p:nvPicPr>
          <p:cNvPr id="352" name="Google Shape;352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248775" y="3694807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0"/>
          <p:cNvSpPr txBox="1"/>
          <p:nvPr/>
        </p:nvSpPr>
        <p:spPr>
          <a:xfrm>
            <a:off x="8244363" y="4171057"/>
            <a:ext cx="218027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HAOS</a:t>
            </a:r>
            <a:endParaRPr/>
          </a:p>
        </p:txBody>
      </p:sp>
      <p:sp>
        <p:nvSpPr>
          <p:cNvPr id="354" name="Google Shape;354;p30"/>
          <p:cNvSpPr txBox="1"/>
          <p:nvPr/>
        </p:nvSpPr>
        <p:spPr>
          <a:xfrm>
            <a:off x="8296275" y="4742557"/>
            <a:ext cx="2076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Extension vers le monitoring IoT de l'IUT.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1"/>
          <p:cNvSpPr txBox="1"/>
          <p:nvPr/>
        </p:nvSpPr>
        <p:spPr>
          <a:xfrm>
            <a:off x="495300" y="2243137"/>
            <a:ext cx="112014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 ?</a:t>
            </a:r>
            <a:endParaRPr/>
          </a:p>
        </p:txBody>
      </p:sp>
      <p:sp>
        <p:nvSpPr>
          <p:cNvPr id="361" name="Google Shape;361;p31"/>
          <p:cNvSpPr txBox="1"/>
          <p:nvPr/>
        </p:nvSpPr>
        <p:spPr>
          <a:xfrm>
            <a:off x="762000" y="3414712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Merci pour votre écoute.</a:t>
            </a:r>
            <a:endParaRPr/>
          </a:p>
        </p:txBody>
      </p:sp>
      <p:pic>
        <p:nvPicPr>
          <p:cNvPr id="362" name="Google Shape;362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7687" y="4186237"/>
            <a:ext cx="1809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876</Words>
  <Application>Microsoft Macintosh PowerPoint</Application>
  <PresentationFormat>Grand écran</PresentationFormat>
  <Paragraphs>108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6" baseType="lpstr">
      <vt:lpstr>Calibri</vt:lpstr>
      <vt:lpstr>Arial</vt:lpstr>
      <vt:lpstr>Poppins</vt:lpstr>
      <vt:lpstr>Poppins SemiBold</vt:lpstr>
      <vt:lpstr>Urbanist</vt:lpstr>
      <vt:lpstr>Lato</vt:lpstr>
      <vt:lpstr>Urbanist Medium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Enzo maryse</cp:lastModifiedBy>
  <cp:revision>19</cp:revision>
  <dcterms:modified xsi:type="dcterms:W3CDTF">2026-06-18T20:26:40Z</dcterms:modified>
</cp:coreProperties>
</file>